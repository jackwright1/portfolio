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9"/>
  </p:notesMasterIdLst>
  <p:sldIdLst>
    <p:sldId id="256" r:id="rId2"/>
    <p:sldId id="309" r:id="rId3"/>
    <p:sldId id="297" r:id="rId4"/>
    <p:sldId id="298" r:id="rId5"/>
    <p:sldId id="299" r:id="rId6"/>
    <p:sldId id="306" r:id="rId7"/>
    <p:sldId id="300" r:id="rId8"/>
    <p:sldId id="301" r:id="rId9"/>
    <p:sldId id="302" r:id="rId10"/>
    <p:sldId id="307" r:id="rId11"/>
    <p:sldId id="303" r:id="rId12"/>
    <p:sldId id="305" r:id="rId13"/>
    <p:sldId id="304" r:id="rId14"/>
    <p:sldId id="308" r:id="rId15"/>
    <p:sldId id="259" r:id="rId16"/>
    <p:sldId id="258" r:id="rId17"/>
    <p:sldId id="260" r:id="rId18"/>
    <p:sldId id="257" r:id="rId19"/>
    <p:sldId id="261" r:id="rId20"/>
    <p:sldId id="269" r:id="rId21"/>
    <p:sldId id="270" r:id="rId22"/>
    <p:sldId id="275" r:id="rId23"/>
    <p:sldId id="276" r:id="rId24"/>
    <p:sldId id="286" r:id="rId25"/>
    <p:sldId id="264" r:id="rId26"/>
    <p:sldId id="265" r:id="rId27"/>
    <p:sldId id="271" r:id="rId28"/>
    <p:sldId id="273" r:id="rId29"/>
    <p:sldId id="285" r:id="rId30"/>
    <p:sldId id="278" r:id="rId31"/>
    <p:sldId id="279" r:id="rId32"/>
    <p:sldId id="280" r:id="rId33"/>
    <p:sldId id="282" r:id="rId34"/>
    <p:sldId id="283" r:id="rId35"/>
    <p:sldId id="284" r:id="rId36"/>
    <p:sldId id="312" r:id="rId37"/>
    <p:sldId id="31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FDCDB-6347-6B45-AA1C-DB7DD8CCDEAC}" v="2" dt="2025-08-06T02:17:54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9"/>
  </p:normalViewPr>
  <p:slideViewPr>
    <p:cSldViewPr snapToGrid="0">
      <p:cViewPr varScale="1">
        <p:scale>
          <a:sx n="110" d="100"/>
          <a:sy n="110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28C94-D378-4658-B6DF-6F1612D3C43A}" type="datetimeFigureOut"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55902-B56F-48BE-B51B-51CD4BE426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5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Larger families, on average, have more capacity to donate. They're a valuable target demographic for driving revenue and creating generations of fans. 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Cross referencing account ids from men's basketball scan logs with customer data from the appends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55902-B56F-48BE-B51B-51CD4BE426B4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09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They also tend to pay more, on average, for events. Just having one child accounts for over $5 in added average revenue.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55902-B56F-48BE-B51B-51CD4BE426B4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63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In total, 23472 + 14096 +8064 + 3918 + 1356 + 294+40 = 51240</a:t>
            </a:r>
          </a:p>
          <a:p>
            <a:r>
              <a:rPr lang="en-US">
                <a:ea typeface="Calibri"/>
                <a:cs typeface="Calibri"/>
              </a:rPr>
              <a:t>142148 Null, 193348 true sum</a:t>
            </a:r>
          </a:p>
          <a:p>
            <a:r>
              <a:rPr lang="en-US">
                <a:ea typeface="Calibri"/>
                <a:cs typeface="Calibri"/>
              </a:rPr>
              <a:t>26.48% of accounts are family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Despite larger families donating the most on average, they're harder to come by in larger sizes. Families of between 1 and 4 children make up 96.7% of all known families in the account data. 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How can we improve our family outreach to take further advantage of this interested demographic?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55902-B56F-48BE-B51B-51CD4BE426B4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35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Lowell was youth hockey night, ASU was homecoming</a:t>
            </a:r>
          </a:p>
          <a:p>
            <a:r>
              <a:rPr lang="en-US">
                <a:ea typeface="Calibri"/>
                <a:cs typeface="Calibri"/>
              </a:rPr>
              <a:t>LIU – Thanksgiving, UNH – Halloween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55902-B56F-48BE-B51B-51CD4BE426B4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12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7C731-6414-EF5B-57B7-F6BFB0B33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05FF7-B59A-B397-6B45-34E713665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EEEF7-53A6-FE41-B415-D5E4805A6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Lowell was youth hockey night, ASU was homecoming</a:t>
            </a:r>
          </a:p>
          <a:p>
            <a:r>
              <a:rPr lang="en-US">
                <a:ea typeface="Calibri"/>
                <a:cs typeface="Calibri"/>
              </a:rPr>
              <a:t>LIU – Thanksgiving, UNH – Halloween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6D75-A678-BC00-9CF6-2A19DB24D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55902-B56F-48BE-B51B-51CD4BE426B4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06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9BD6-8DB9-727E-19EE-2BD3EC5A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40B36-F197-47E6-09D3-EE5A5CAF0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4F48C-50B9-2FEA-A5CE-A85E10713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Lowell was youth hockey night, ASU was homecoming</a:t>
            </a:r>
          </a:p>
          <a:p>
            <a:r>
              <a:rPr lang="en-US">
                <a:ea typeface="Calibri"/>
                <a:cs typeface="Calibri"/>
              </a:rPr>
              <a:t>LIU – Thanksgiving, UNH – Halloween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CACCF-381F-4D98-A2B3-22EDA6B3F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55902-B56F-48BE-B51B-51CD4BE426B4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2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65D0-7020-6F4A-06E9-B5507548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14779-A1B1-F99B-98B9-F9F0C4570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384E6-F413-A510-B1DF-ED57BB027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Only did 6pm twice – LIU during thanksgiving, UMass which did really well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Ticket discount/reward if scan into both games of a back to 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D48F4-A62B-63E6-8E58-3537C32A0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D55902-B56F-48BE-B51B-51CD4BE426B4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69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00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2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8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8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3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4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42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45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7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976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42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1913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35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19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3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7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40" y="1070702"/>
            <a:ext cx="9744559" cy="30721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Evaluating Demographics, Start Times, and Scan Rates in PC MBB, WBB, and MHKY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265694" y="4325292"/>
            <a:ext cx="10997338" cy="977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Colin Fitzgibbons, William Healey, Liam Slattery, Jack Wright, Neil Pepin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E50A6-576F-E607-F8E3-4DCAEB1F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28229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General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0D28F-B261-B2F1-D027-C9F93AA05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346019"/>
            <a:ext cx="8596668" cy="860400"/>
          </a:xfrm>
        </p:spPr>
        <p:txBody>
          <a:bodyPr/>
          <a:lstStyle/>
          <a:p>
            <a:r>
              <a:rPr lang="en-US">
                <a:ea typeface="+mn-lt"/>
                <a:cs typeface="+mn-lt"/>
              </a:rPr>
              <a:t>Start Times, Rivalries, and Win Percentage Impact on Ticket Sales and Attendance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6025357-6573-598F-E20F-542E8DD7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E27430-1C61-0CEE-7906-90138AF79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8" y="0"/>
            <a:ext cx="10106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3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A57DD-AFA0-4487-7640-72FA5628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9A33C9D-6373-6E13-70E2-C25D610AA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472063-7DA9-361F-1C43-B84AAB66A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449" y="-5247"/>
            <a:ext cx="10106186" cy="686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7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EB31A-F276-8388-3086-D1C4670E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AD304AB-EF51-E983-702F-2A4854AB7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BACF20-ECAB-4E8C-000A-BFEA34E5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35" y="-5247"/>
            <a:ext cx="10144932" cy="686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1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7558-BD02-ED08-47E2-2BC25DD9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Actionable Steps to Optimize Game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7D76-576C-6E4D-52C4-8FA2B5BAC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MBS: Prioritize Saturday start times at 12:00 PM and 12:30 PM</a:t>
            </a:r>
          </a:p>
          <a:p>
            <a:endParaRPr lang="en-US"/>
          </a:p>
          <a:p>
            <a:r>
              <a:rPr lang="en-US"/>
              <a:t>WBS: Prioritize Saturday at 2:00 PM and Sunday at 12:00 PM</a:t>
            </a:r>
          </a:p>
          <a:p>
            <a:endParaRPr lang="en-US"/>
          </a:p>
          <a:p>
            <a:r>
              <a:rPr lang="en-US"/>
              <a:t>HKY: Prioritize Saturday at 4:30 PM and 7:00 PM</a:t>
            </a:r>
          </a:p>
          <a:p>
            <a:endParaRPr lang="en-US"/>
          </a:p>
          <a:p>
            <a:r>
              <a:rPr lang="en-US"/>
              <a:t>Note: While start time appears to influence tickets sold and attendance, opponent quality plays a significant role as well. </a:t>
            </a:r>
            <a:r>
              <a:rPr lang="en-US" u="sng"/>
              <a:t>Run analyses with prior season's data and exclude rivalry games.</a:t>
            </a:r>
          </a:p>
        </p:txBody>
      </p:sp>
    </p:spTree>
    <p:extLst>
      <p:ext uri="{BB962C8B-B14F-4D97-AF65-F5344CB8AC3E}">
        <p14:creationId xmlns:p14="http://schemas.microsoft.com/office/powerpoint/2010/main" val="357508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78869-1DC7-A07F-AE84-004754F4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118C99A-BA7C-3443-825E-BA7C83D48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4" name="Picture 3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C2CFE6D6-7D18-0F52-20CF-DB297968F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450" y="-5247"/>
            <a:ext cx="10119101" cy="686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7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6B49-2C32-96F2-C647-ED814BE9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555F079-889D-8D48-058B-16C5E04FB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B25543-D41A-C240-2119-F0A55CDFF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0" y="-5247"/>
            <a:ext cx="11972440" cy="686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3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ACEFD-F8C4-EDB8-2480-EA1D62E6D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D98AABE-44BE-223A-43A7-56588BC4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4" name="Picture 3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D2449C38-0984-3EDF-5151-235F54C7F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450" y="-5247"/>
            <a:ext cx="10119101" cy="686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3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7A0C-DBC0-82AB-1C71-E1346FDA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+mj-lt"/>
                <a:cs typeface="+mj-lt"/>
              </a:rPr>
              <a:t>Rivalry Marketing Approach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E0FD4-D0A1-C35E-1C07-D258026B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Enhance promotion for confirmed rivalry games to maximize attendance and engagement</a:t>
            </a:r>
          </a:p>
          <a:p>
            <a:endParaRPr lang="en-US"/>
          </a:p>
          <a:p>
            <a:r>
              <a:rPr lang="en-US"/>
              <a:t>Position select opponents as rivals through marketing to generate additional interest, even if the rivalry is not firmly established. (Ex: UMass Lowel for hockey)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4674-0EB0-B616-0AA6-323E96A2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FDC0E87-FE2D-26A2-D458-3448F237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4" name="Picture 3" descr="A graph with blue circles and white text&#10;&#10;AI-generated content may be incorrect.">
            <a:extLst>
              <a:ext uri="{FF2B5EF4-FFF2-40B4-BE49-F238E27FC236}">
                <a16:creationId xmlns:a16="http://schemas.microsoft.com/office/drawing/2014/main" id="{9D54439F-2360-2394-B4C1-3EE3E47F5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65" y="-5247"/>
            <a:ext cx="10080355" cy="686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49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C309-D974-8E14-E7AC-573CE3A5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57ED6A6-E1A5-8E75-4631-DB38F3F1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4" name="Picture 3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5A6D2E85-F993-F19F-5C44-E415C1AFF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450" y="-5247"/>
            <a:ext cx="10119101" cy="686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39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D6253-BCB8-1FF3-74F4-CFACA8BA0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F09F3A6-3036-40DF-0362-5B4B53D26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" y="-2117"/>
            <a:ext cx="12194569" cy="6862232"/>
          </a:xfrm>
          <a:prstGeom prst="rect">
            <a:avLst/>
          </a:prstGeom>
        </p:spPr>
      </p:pic>
      <p:pic>
        <p:nvPicPr>
          <p:cNvPr id="4" name="Picture 3" descr="A graph with blue circles and a red line&#10;&#10;AI-generated content may be incorrect.">
            <a:extLst>
              <a:ext uri="{FF2B5EF4-FFF2-40B4-BE49-F238E27FC236}">
                <a16:creationId xmlns:a16="http://schemas.microsoft.com/office/drawing/2014/main" id="{BDEF71C7-A284-9F97-0D4C-EE33FA46B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64" y="-5247"/>
            <a:ext cx="10093271" cy="686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4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AC5B-DE7D-AEC3-C789-E6398010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Potential Next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B5A1-A589-B166-E025-0A7333E61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Rerun the same correlation analysis including data from prior seasons</a:t>
            </a:r>
          </a:p>
        </p:txBody>
      </p:sp>
    </p:spTree>
    <p:extLst>
      <p:ext uri="{BB962C8B-B14F-4D97-AF65-F5344CB8AC3E}">
        <p14:creationId xmlns:p14="http://schemas.microsoft.com/office/powerpoint/2010/main" val="3051920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DC8A16-C10F-F0E2-126B-905A5194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5023" y="2339372"/>
            <a:ext cx="4923780" cy="21823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Improving Family Engagement in Men's Basketball</a:t>
            </a: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8" name="Graphic 27" descr="Basketball">
            <a:extLst>
              <a:ext uri="{FF2B5EF4-FFF2-40B4-BE49-F238E27FC236}">
                <a16:creationId xmlns:a16="http://schemas.microsoft.com/office/drawing/2014/main" id="{5161ABED-7ED4-BE34-34EA-E60BA174A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FC8C9EE-6352-A709-3E82-CACBBAC38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5425" y="-2040"/>
            <a:ext cx="8862944" cy="686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2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events&#10;&#10;AI-generated content may be incorrect.">
            <a:extLst>
              <a:ext uri="{FF2B5EF4-FFF2-40B4-BE49-F238E27FC236}">
                <a16:creationId xmlns:a16="http://schemas.microsoft.com/office/drawing/2014/main" id="{116DAF47-3A43-39CF-F48E-9B5F688D5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0501" y="-2040"/>
            <a:ext cx="8845534" cy="686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97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8C68C112-A025-416B-A735-016164D6A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69" y="0"/>
            <a:ext cx="10263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02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35D55C-6B11-0F10-1B0A-BD7652659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054" y="3119"/>
            <a:ext cx="8822786" cy="68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19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1543F-8AFF-3AF6-73B0-DE86C6A64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B18692D7-97FB-63DB-B6AB-1EDDEE1BE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0988" y="-2040"/>
            <a:ext cx="8844558" cy="686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50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E831-AE9B-3626-6800-0CFDB582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Actions for Improved Family Engagement in Men's Basketball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3515D-50C5-C093-6669-46D40439C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Email marketing has shown success for: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suburban blue collar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empty nesters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non-categorized account holders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Consider increasing family-oriented marketing towards these groups</a:t>
            </a:r>
            <a:endParaRPr lang="en-US" sz="2800"/>
          </a:p>
          <a:p>
            <a:r>
              <a:rPr lang="en-US"/>
              <a:t>For nonresponsive groups: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Invested Professionals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Cost-Conscious young families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College grad families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Consider alternative marketing means (print, SMS, social media)</a:t>
            </a:r>
          </a:p>
          <a:p>
            <a:r>
              <a:rPr lang="en-US"/>
              <a:t>To drive revenue for families, consider more family promotions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1-child families pay 1.16x null entries, so a 10% family discount would incentivize attendance while still paying more than a non-family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80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3408-96D3-FCAC-0D68-050031820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62" y="365125"/>
            <a:ext cx="11729632" cy="131910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+mj-lt"/>
                <a:cs typeface="+mj-lt"/>
              </a:rPr>
              <a:t>Women's Basketball Ticket Scan Rates 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6" name="Picture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729DD206-4957-ADB9-3178-980DDACEE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654"/>
            <a:ext cx="9613515" cy="532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40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CE1F-653F-1032-AE26-6B59B896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WBS Scan Rate Dashboard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31806-BD25-0A35-B240-A3D9A416D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828"/>
            <a:ext cx="4684364" cy="50358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1,904 Season Ticket Holders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Seat Manifest Data</a:t>
            </a:r>
          </a:p>
          <a:p>
            <a:r>
              <a:rPr lang="en-US"/>
              <a:t>1,875 Project Providence Donors</a:t>
            </a:r>
          </a:p>
          <a:p>
            <a:pPr lvl="1">
              <a:buFont typeface="Courier New" charset="2"/>
              <a:buChar char="o"/>
            </a:pPr>
            <a:r>
              <a:rPr lang="en-US"/>
              <a:t>298 (16%) have GRMID</a:t>
            </a:r>
          </a:p>
          <a:p>
            <a:r>
              <a:rPr lang="en-US"/>
              <a:t>Overall scan rate of 56%</a:t>
            </a:r>
          </a:p>
          <a:p>
            <a:r>
              <a:rPr lang="en-US"/>
              <a:t>Sunday games held higher scan rates (67%)</a:t>
            </a:r>
          </a:p>
          <a:p>
            <a:r>
              <a:rPr lang="en-US"/>
              <a:t>February held highest scan rates behind Delaware game in November</a:t>
            </a:r>
          </a:p>
          <a:p>
            <a:r>
              <a:rPr lang="en-US"/>
              <a:t>Day of week contributed more than opponent names/scores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graph of a basketball game&#10;&#10;AI-generated content may be incorrect.">
            <a:extLst>
              <a:ext uri="{FF2B5EF4-FFF2-40B4-BE49-F238E27FC236}">
                <a16:creationId xmlns:a16="http://schemas.microsoft.com/office/drawing/2014/main" id="{C93F0BDE-DBE8-4695-5F56-752D0E92C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689" y="1485515"/>
            <a:ext cx="6317288" cy="504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19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81F9-F567-2A6B-E11F-7ADFBA22C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Women's Basketball DOW Scan Rates</a:t>
            </a:r>
          </a:p>
        </p:txBody>
      </p:sp>
      <p:pic>
        <p:nvPicPr>
          <p:cNvPr id="5" name="Picture 4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96539427-301A-8136-58DA-EDC303AF5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76" y="1481741"/>
            <a:ext cx="9370017" cy="49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71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umber of workers&#10;&#10;AI-generated content may be incorrect.">
            <a:extLst>
              <a:ext uri="{FF2B5EF4-FFF2-40B4-BE49-F238E27FC236}">
                <a16:creationId xmlns:a16="http://schemas.microsoft.com/office/drawing/2014/main" id="{2D5121D9-55D3-F885-640F-70CB954D5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70" y="140676"/>
            <a:ext cx="10577414" cy="647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44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graph&#10;&#10;AI-generated content may be incorrect.">
            <a:extLst>
              <a:ext uri="{FF2B5EF4-FFF2-40B4-BE49-F238E27FC236}">
                <a16:creationId xmlns:a16="http://schemas.microsoft.com/office/drawing/2014/main" id="{2CB9008E-E9DD-D261-4E6E-86C67B97C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0599" y="261452"/>
            <a:ext cx="10417522" cy="633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03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3C3A4C-4782-19D0-BB07-CBDEBA76F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592" y="144220"/>
            <a:ext cx="10550982" cy="657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53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numbers and a number of tickets&#10;&#10;AI-generated content may be incorrect.">
            <a:extLst>
              <a:ext uri="{FF2B5EF4-FFF2-40B4-BE49-F238E27FC236}">
                <a16:creationId xmlns:a16="http://schemas.microsoft.com/office/drawing/2014/main" id="{2A58A337-8257-A854-D1F7-D224770E7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181" y="85826"/>
            <a:ext cx="10866128" cy="66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42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57F23-C9DF-C44B-C3EB-ECDFEE97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Marketing Techniques to Improve Revenue and 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FC84-5314-BA11-0BE1-089F899DF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/>
              <a:t>Target employees of specific companies</a:t>
            </a:r>
          </a:p>
          <a:p>
            <a:pPr lvl="1"/>
            <a:r>
              <a:rPr lang="en-US"/>
              <a:t>Citizens, Fidelity, Lifespan, </a:t>
            </a:r>
            <a:r>
              <a:rPr lang="en-US" err="1"/>
              <a:t>etc</a:t>
            </a:r>
            <a:endParaRPr lang="en-US"/>
          </a:p>
          <a:p>
            <a:pPr lvl="1"/>
            <a:r>
              <a:rPr lang="en-US"/>
              <a:t>Provide promotional ticket deals- non rivalry games, 2nd games</a:t>
            </a:r>
          </a:p>
          <a:p>
            <a:r>
              <a:rPr lang="en-US"/>
              <a:t>Initiate partnerships or host networking events</a:t>
            </a:r>
          </a:p>
          <a:p>
            <a:r>
              <a:rPr lang="en-US"/>
              <a:t>Target cluster 1 fanbase with a ticket purchase reward structure</a:t>
            </a:r>
          </a:p>
          <a:p>
            <a:r>
              <a:rPr lang="en-US"/>
              <a:t>Target cluster 2 fanbase with a game attendance reward structure</a:t>
            </a:r>
          </a:p>
          <a:p>
            <a:r>
              <a:rPr lang="en-US"/>
              <a:t>Target Men's Hockey cluster 2 fans for greater donations</a:t>
            </a:r>
          </a:p>
          <a:p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836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DE4F-A946-BBFD-1C54-9ECA3EDF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36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Men's Hockey Ticket Scan Rates</a:t>
            </a:r>
          </a:p>
        </p:txBody>
      </p:sp>
      <p:pic>
        <p:nvPicPr>
          <p:cNvPr id="6" name="Content Placeholder 5" descr="A graph of black rectangular objects with numbers&#10;&#10;AI-generated content may be incorrect.">
            <a:extLst>
              <a:ext uri="{FF2B5EF4-FFF2-40B4-BE49-F238E27FC236}">
                <a16:creationId xmlns:a16="http://schemas.microsoft.com/office/drawing/2014/main" id="{5D34D0FB-BCF2-C3E7-70FA-CA33B96D2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221" y="1260889"/>
            <a:ext cx="9363558" cy="52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15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D78B-A625-6062-7DEB-6AB37560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82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HKS Scan Rate Dashboard and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FB33A7-F62E-DC3C-76B8-3BD6B2CFE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710"/>
            <a:ext cx="4522924" cy="52876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84% scan rate across both Boston College games</a:t>
            </a:r>
          </a:p>
          <a:p>
            <a:r>
              <a:rPr lang="en-US"/>
              <a:t>Overall Scan Rate of 70.76%</a:t>
            </a:r>
          </a:p>
          <a:p>
            <a:r>
              <a:rPr lang="en-US"/>
              <a:t>Month of January showed highest scan rate at 76%</a:t>
            </a:r>
          </a:p>
          <a:p>
            <a:r>
              <a:rPr lang="en-US"/>
              <a:t>Most popular game day: Saturday (72%)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Exception of Boston College game on Tuesday</a:t>
            </a:r>
          </a:p>
          <a:p>
            <a:r>
              <a:rPr lang="en-US"/>
              <a:t>Overall, opponent names/heightened rivalries contributed greater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2FAAFC-EFC2-6368-7B29-F2A90A7B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903" y="1304441"/>
            <a:ext cx="6732076" cy="539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259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9D46-B047-B697-E3AA-B1B35A5C4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F95C-3FB3-80A9-F6BF-B48D99A1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219" y="172776"/>
            <a:ext cx="6417076" cy="123678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Men's Hockey Ticket 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805B4-C9D5-A9C4-D08B-7F6BE462E156}"/>
              </a:ext>
            </a:extLst>
          </p:cNvPr>
          <p:cNvSpPr txBox="1"/>
          <p:nvPr/>
        </p:nvSpPr>
        <p:spPr>
          <a:xfrm>
            <a:off x="251534" y="1583184"/>
            <a:ext cx="350028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Rivalries and high-participation special events drove highest sales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BC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Lowell/ASU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Low recognition opponents and school breaks resulted in lowest sales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LIU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400"/>
              <a:t>UNH</a:t>
            </a:r>
          </a:p>
        </p:txBody>
      </p:sp>
      <p:pic>
        <p:nvPicPr>
          <p:cNvPr id="8" name="Content Placeholder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937ADC8-E0D8-D0D8-9A4E-1CCBDF0BE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962" y="1017191"/>
            <a:ext cx="6417076" cy="5668033"/>
          </a:xfrm>
        </p:spPr>
      </p:pic>
    </p:spTree>
    <p:extLst>
      <p:ext uri="{BB962C8B-B14F-4D97-AF65-F5344CB8AC3E}">
        <p14:creationId xmlns:p14="http://schemas.microsoft.com/office/powerpoint/2010/main" val="2813405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6FD8-88E0-3352-E392-8B522C09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8CB6E-6382-E319-2CA0-F5E68C4D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219" y="1154"/>
            <a:ext cx="6417076" cy="123678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Men's Hockey Ticket Sales</a:t>
            </a:r>
          </a:p>
        </p:txBody>
      </p:sp>
      <p:pic>
        <p:nvPicPr>
          <p:cNvPr id="8" name="Picture 7" descr="A graph of different colored rectangular bars&#10;&#10;AI-generated content may be incorrect.">
            <a:extLst>
              <a:ext uri="{FF2B5EF4-FFF2-40B4-BE49-F238E27FC236}">
                <a16:creationId xmlns:a16="http://schemas.microsoft.com/office/drawing/2014/main" id="{A810CAFB-2D4D-FF28-C1DD-5B4A31DE7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033" y="1067577"/>
            <a:ext cx="8098204" cy="541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044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18FE3-E675-6701-14A2-A1BA0FAF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ADD9-A7BD-5E55-8A8E-8C1285ADB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219" y="1154"/>
            <a:ext cx="6417076" cy="1236787"/>
          </a:xfrm>
        </p:spPr>
        <p:txBody>
          <a:bodyPr/>
          <a:lstStyle/>
          <a:p>
            <a:r>
              <a:rPr lang="en-US"/>
              <a:t>Men's Hockey Ticket Sales</a:t>
            </a:r>
          </a:p>
        </p:txBody>
      </p:sp>
      <p:pic>
        <p:nvPicPr>
          <p:cNvPr id="5" name="Picture 4" descr="A line graph with numbers and a line&#10;&#10;AI-generated content may be incorrect.">
            <a:extLst>
              <a:ext uri="{FF2B5EF4-FFF2-40B4-BE49-F238E27FC236}">
                <a16:creationId xmlns:a16="http://schemas.microsoft.com/office/drawing/2014/main" id="{7D11341C-8E3C-AA46-D8C7-A57C29A9B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272" y="1061821"/>
            <a:ext cx="10016970" cy="562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76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AFCAC-B092-B379-0154-8F9BBE12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135F-6F32-5A11-CE8A-572A4ED6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074" y="1154"/>
            <a:ext cx="9953346" cy="12367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Actions to Improve Men's Hockey Ticket Sales</a:t>
            </a:r>
          </a:p>
        </p:txBody>
      </p:sp>
      <p:pic>
        <p:nvPicPr>
          <p:cNvPr id="3" name="Picture 2" descr="A group of hockey players in a stadium&#10;&#10;AI-generated content may be incorrect.">
            <a:extLst>
              <a:ext uri="{FF2B5EF4-FFF2-40B4-BE49-F238E27FC236}">
                <a16:creationId xmlns:a16="http://schemas.microsoft.com/office/drawing/2014/main" id="{35C6C6A7-2273-99F4-F40E-310D312AA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660" y="1606254"/>
            <a:ext cx="8478175" cy="4274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C87322-2F74-F5CB-1413-6E56661EBAE2}"/>
              </a:ext>
            </a:extLst>
          </p:cNvPr>
          <p:cNvSpPr txBox="1"/>
          <p:nvPr/>
        </p:nvSpPr>
        <p:spPr>
          <a:xfrm>
            <a:off x="155426" y="1603777"/>
            <a:ext cx="3294334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/>
              <a:t>Attempt to separate rivalry/big opponent games to unique times/days</a:t>
            </a:r>
          </a:p>
          <a:p>
            <a:pPr marL="342900" indent="-342900">
              <a:buFont typeface="Arial"/>
              <a:buChar char="•"/>
            </a:pPr>
            <a:r>
              <a:rPr lang="en-US" sz="2400"/>
              <a:t>Try 6PM games in different situations – not just the 2nd of back-to-backs</a:t>
            </a:r>
          </a:p>
          <a:p>
            <a:pPr marL="342900" indent="-342900">
              <a:buFont typeface="Arial"/>
              <a:buChar char="•"/>
            </a:pPr>
            <a:r>
              <a:rPr lang="en-US" sz="2400"/>
              <a:t>Attempt increased/ different marketing for back-to-backs</a:t>
            </a:r>
          </a:p>
        </p:txBody>
      </p:sp>
    </p:spTree>
    <p:extLst>
      <p:ext uri="{BB962C8B-B14F-4D97-AF65-F5344CB8AC3E}">
        <p14:creationId xmlns:p14="http://schemas.microsoft.com/office/powerpoint/2010/main" val="251699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E313-4453-6631-AA4E-35F2421B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Priority Actions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6E5BC-3788-7072-E5CC-4013DCA4F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4209"/>
            <a:ext cx="8596668" cy="46548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Rerun start time analysis excluding rivalry games and using prior season's data, then focus on scheduling in line with days / times that optimize tickets sold (MBS) and attendance (WBS, HKY)</a:t>
            </a:r>
          </a:p>
          <a:p>
            <a:endParaRPr lang="en-US"/>
          </a:p>
          <a:p>
            <a:r>
              <a:rPr lang="en-US"/>
              <a:t>Focus on marketing emerging/potential rivals as rivals and keep/increase marketing current conference rivals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Levy fan profiles for targeted family marketing and consider family ticket price promotions</a:t>
            </a:r>
            <a:endParaRPr lang="en-US"/>
          </a:p>
          <a:p>
            <a:endParaRPr lang="en-US"/>
          </a:p>
          <a:p>
            <a:r>
              <a:rPr lang="en-US"/>
              <a:t>Target customers with specific offers depending on their determined cluster</a:t>
            </a:r>
          </a:p>
          <a:p>
            <a:endParaRPr lang="en-US"/>
          </a:p>
          <a:p>
            <a:r>
              <a:rPr lang="en-US"/>
              <a:t>Increase/differentiate marketing efforts for the second games of Men's Hockey back-to-backs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26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65497-5FB6-CA62-84A5-119EA8F6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8727-B60F-396E-11E1-36F0A627F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895" y="2959172"/>
            <a:ext cx="4308804" cy="935429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tx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895842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868</Words>
  <Application>Microsoft Office PowerPoint</Application>
  <PresentationFormat>Widescreen</PresentationFormat>
  <Paragraphs>111</Paragraphs>
  <Slides>37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Facet</vt:lpstr>
      <vt:lpstr>Evaluating Demographics, Start Times, and Scan Rates in PC MBB, WBB, and MHKY</vt:lpstr>
      <vt:lpstr>General Findings</vt:lpstr>
      <vt:lpstr>PowerPoint Presentation</vt:lpstr>
      <vt:lpstr>PowerPoint Presentation</vt:lpstr>
      <vt:lpstr>PowerPoint Presentation</vt:lpstr>
      <vt:lpstr>Actionable Steps to Optimize Game Times</vt:lpstr>
      <vt:lpstr>PowerPoint Presentation</vt:lpstr>
      <vt:lpstr>PowerPoint Presentation</vt:lpstr>
      <vt:lpstr>PowerPoint Presentation</vt:lpstr>
      <vt:lpstr>Rivalry Marketing Approach</vt:lpstr>
      <vt:lpstr>PowerPoint Presentation</vt:lpstr>
      <vt:lpstr>PowerPoint Presentation</vt:lpstr>
      <vt:lpstr>PowerPoint Presentation</vt:lpstr>
      <vt:lpstr>Potential Next Step</vt:lpstr>
      <vt:lpstr>Improving Family Engagement in Men's Basketball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Actions for Improved Family Engagement in Men's Basketball</vt:lpstr>
      <vt:lpstr>Women's Basketball Ticket Scan Rates  </vt:lpstr>
      <vt:lpstr>WBS Scan Rate Dashboard and Insights</vt:lpstr>
      <vt:lpstr>Women's Basketball DOW Scan Rates</vt:lpstr>
      <vt:lpstr>PowerPoint Presentation</vt:lpstr>
      <vt:lpstr>PowerPoint Presentation</vt:lpstr>
      <vt:lpstr>PowerPoint Presentation</vt:lpstr>
      <vt:lpstr>PowerPoint Presentation</vt:lpstr>
      <vt:lpstr>Marketing Techniques to Improve Revenue and Attendance</vt:lpstr>
      <vt:lpstr>Men's Hockey Ticket Scan Rates</vt:lpstr>
      <vt:lpstr>HKS Scan Rate Dashboard and Insights</vt:lpstr>
      <vt:lpstr>Men's Hockey Ticket Sales</vt:lpstr>
      <vt:lpstr>Men's Hockey Ticket Sales</vt:lpstr>
      <vt:lpstr>Men's Hockey Ticket Sales</vt:lpstr>
      <vt:lpstr>Actions to Improve Men's Hockey Ticket Sales</vt:lpstr>
      <vt:lpstr>Priority Actions (Summary)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Will Healey</cp:lastModifiedBy>
  <cp:revision>12</cp:revision>
  <dcterms:created xsi:type="dcterms:W3CDTF">2025-07-19T20:01:19Z</dcterms:created>
  <dcterms:modified xsi:type="dcterms:W3CDTF">2025-08-11T20:01:20Z</dcterms:modified>
</cp:coreProperties>
</file>